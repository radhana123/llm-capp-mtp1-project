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State the problem in one sentence before the bullets.</a:t>
            </a:r>
          </a:p>
          <a:p>
            <a:pPr lvl="0" indent="0" marL="0">
              <a:buNone/>
            </a:pPr>
          </a:p>
          <a:p>
            <a:pPr lvl="0"/>
            <a:r>
              <a:rPr/>
              <a:t>Name the gap that no earlier study closes (report 3.2).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Say what v1 already does and what it cannot guarantee.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what MTP-1 adds,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Read the questions in your own words, not off the slide.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which of them the data of this talk can answer and which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Walk down the rows: each row adds one component to its parent.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last column says which research question the row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Say why three LLMs: no conclusion should rest on one model.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how the development set and the sealed set were kept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two rows per LLM are the first and the deepest row of the grid, chosen by a rule that does not look at the results.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M2 LLM-final, not M2 final: the Route Builder fallback makes M2 final almost always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Say what fails first and how often, in the words of the failure types.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share is of raw LLM routes, before any repair or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Name the failure types in the order of the table.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cases of the case-study slide are drawn from these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Name the rows that answer this question: A3 vs A2, A4 vs A2, A6 vs A5.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the interval, not the point estimate; say whether the LLMs agree (the last column).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what was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Name the rows that answer this question: A2 vs A1.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the interval, not the point estimate; say whether the LLMs agree (the last column).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what was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M5 is the share of the LLM’s operations that is still in the route after the fix: the minimal-edit claim is about this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Name the rows that answer this question: A1 vs A0, A5 vs A3.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the interval, not the point estimate; say whether the LLMs agree (the last column).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what was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Name the rows that answer this question: A9 vs A2.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the interval, not the point estimate; say whether the LLMs agree (the last column).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what was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agreement-based figure is scored after an oracle user: an upper bound, not what a real user does.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how many drawings this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Show one case in full: the part, the route of the LLM, the violation, what the repair kept.</a:t>
            </a:r>
          </a:p>
          <a:p>
            <a:pPr lvl="0" indent="0" marL="0">
              <a:buNone/>
            </a:pPr>
          </a:p>
          <a:p>
            <a:pPr lvl="0"/>
            <a:r>
              <a:rPr/>
              <a:t>Cite the case by its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bullets above are generated from this run; the rest of the list is in the paper draft.</a:t>
            </a:r>
          </a:p>
          <a:p>
            <a:pPr lvl="0" indent="0" marL="0">
              <a:buNone/>
            </a:pPr>
          </a:p>
          <a:p>
            <a:pPr lvl="0"/>
            <a:r>
              <a:rPr/>
              <a:t>Say the one limit that matters most for reading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Say that every figure and table is regenerated by one command from the finished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Answer each research question in one clause, as far as the data goes.</a:t>
            </a:r>
          </a:p>
          <a:p>
            <a:pPr lvl="0" indent="0" marL="0">
              <a:buNone/>
            </a:pPr>
          </a:p>
          <a:p>
            <a:pPr lvl="0"/>
            <a:r>
              <a:rPr/>
              <a:t>End with the next steps, not with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 WRITE: title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 RESULTS, NOT PAPER RESULTS</a:t>
            </a:r>
            <a:br/>
            <a:br/>
            <a:r>
              <a:rPr/>
              <a:t>TO WRITE: authors and date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TO WRITE (15-70 words): Why an LLM process plan cannot be trusted as it is, and what is missing in earlier work: three or four short bullets (report 3.2).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Foundation: LLM-CAPP v1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TO WRITE (15-70 words): The Route Builder, the LLM planner, the verifier and the scoring of v1, and what MTP-1 adds.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RQ1</a:t>
            </a:r>
            <a:r>
              <a:rPr/>
              <a:t>: How often and in what ways does the v1 LLM planner fail, in terms of precedence violations, missing or invented operations and physical infeasibility, when evaluated against expert-validated plans?</a:t>
            </a:r>
          </a:p>
          <a:p>
            <a:pPr lvl="0"/>
            <a:r>
              <a:rPr b="1"/>
              <a:t>RQ2</a:t>
            </a:r>
            <a:r>
              <a:rPr/>
              <a:t>: Does two-step reason-then-formalise planning reduce first-pass failures, and how much of any gain depends on the rule-based hint?</a:t>
            </a:r>
          </a:p>
          <a:p>
            <a:pPr lvl="0"/>
            <a:r>
              <a:rPr b="1"/>
              <a:t>RQ3</a:t>
            </a:r>
            <a:r>
              <a:rPr/>
              <a:t>: Does localized minimal-edit repair preserve more of the LLM’s valid decisions than whole-route replacement, without loss of validity?</a:t>
            </a:r>
          </a:p>
          <a:p>
            <a:pPr lvl="0"/>
            <a:r>
              <a:rPr b="1"/>
              <a:t>RQ4</a:t>
            </a:r>
            <a:r>
              <a:rPr/>
              <a:t>: Do multi-candidate generation and consistency-aware selection improve plan quality and stability, and at what cost in calls, tokens and latency?</a:t>
            </a:r>
          </a:p>
          <a:p>
            <a:pPr lvl="0"/>
            <a:r>
              <a:rPr b="1"/>
              <a:t>RQ5</a:t>
            </a:r>
            <a:r>
              <a:rPr/>
              <a:t>: Is it better to repair an LLM plan after generation, or to constrain generation step by step with the precedence graph? (stretch)</a:t>
            </a:r>
          </a:p>
          <a:p>
            <a:pPr lvl="0"/>
            <a:r>
              <a:rPr b="1"/>
              <a:t>RQ6</a:t>
            </a:r>
            <a:r>
              <a:rPr/>
              <a:t>: Do per-feature evidence and agreement-based selective confirmation reduce the number of user corrections per drawing without lowering the accuracy of the confirmed feature list?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Components under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TO WRITE (15-70 words): One short line per component, in plain words.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 to its 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B1: one LLM call, whole-route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B0: five samples, whole-route replacement (v1 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 + localized minimal-edit 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A2 + two-step planner, with Route Builder hint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two-step, hint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A2 + two-step planner, without hint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of A3 and A4 + multi-candidate 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A5 + retrieval-based few-shot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few-shot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A6 + extended verifier (feasibility rules)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further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A7 + model cascade (optional)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cascade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further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Constrained planner (optional)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repair, constrained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RQ5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and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Grid </a:t>
            </a:r>
            <a:r>
              <a:rPr>
                <a:latin typeface="Courier"/>
              </a:rPr>
              <a:t>ablation_dev</a:t>
            </a:r>
            <a:r>
              <a:rPr/>
              <a:t>: dataset </a:t>
            </a:r>
            <a:r>
              <a:rPr>
                <a:latin typeface="Courier"/>
              </a:rPr>
              <a:t>dev_v2</a:t>
            </a:r>
            <a:r>
              <a:rPr/>
              <a:t> (development set), 20 parts, 3 repeats per cell.</a:t>
            </a:r>
          </a:p>
          <a:p>
            <a:pPr lvl="0"/>
            <a:r>
              <a:rPr/>
              <a:t>LLMs: Qwen3.8-27B (</a:t>
            </a:r>
            <a:r>
              <a:rPr>
                <a:latin typeface="Courier"/>
              </a:rPr>
              <a:t>qwen/qwen3.8-27b</a:t>
            </a:r>
            <a:r>
              <a:rPr/>
              <a:t>), gpt-oss-120b (</a:t>
            </a:r>
            <a:r>
              <a:rPr>
                <a:latin typeface="Courier"/>
              </a:rPr>
              <a:t>openai/gpt-oss-120b</a:t>
            </a:r>
            <a:r>
              <a:rPr/>
              <a:t>), gpt-oss-20b (</a:t>
            </a:r>
            <a:r>
              <a:rPr>
                <a:latin typeface="Courier"/>
              </a:rPr>
              <a:t>openai/gpt-oss-20b</a:t>
            </a:r>
            <a:r>
              <a:rPr/>
              <a:t>).</a:t>
            </a:r>
          </a:p>
          <a:p>
            <a:pPr lvl="0"/>
            <a:r>
              <a:rPr/>
              <a:t>Statistics: paired bootstrap, 95% interval over parts (1000 resamples); McNemar’s exact test for validity; no correction for the number of comparisons.</a:t>
            </a:r>
          </a:p>
          <a:p>
            <a:pPr lvl="0"/>
            <a:r>
              <a:rPr/>
              <a:t>Configuration freeze </a:t>
            </a:r>
            <a:r>
              <a:rPr>
                <a:latin typeface="Courier"/>
              </a:rPr>
              <a:t>2d59d8b0a213</a:t>
            </a:r>
            <a:r>
              <a:rPr/>
              <a:t>, working tree drift.</a:t>
            </a:r>
          </a:p>
          <a:p>
            <a:pPr lvl="0" indent="0" marL="0">
              <a:buNone/>
            </a:pPr>
            <a:r>
              <a:rPr i="1"/>
              <a:t>TO WRITE (10-60 words): Why these LLMs, how many repeats, how the benchmark was annotated and the development set used.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What the audience should take from the first results slide; say what the numbers support and what they do not.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first-pass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LLM-final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M6 gap (pts)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M7 calls/part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Qwen3.8-27B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usable 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gpt-oss-120b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usable 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usable 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RQ1: Baseline failures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often and in what ways does the v1 LLM planner fail, in terms of precedence violations, missing or invented operations and physical infeasibility, when evaluated against expert-validated plans?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What the baseline failure rates and failure types show.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first-pass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LLM-final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M6 gap (pts)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B1: one LLM call, whole-route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Qwen3.8-27B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B1: one LLM call, whole-route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gpt-oss-120b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B1: one LLM call, whole-route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B0: five samples, whole-route replacement (v1 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Qwen3.8-27B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B0: five samples, whole-route replacement (v1 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gpt-oss-120b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B0: five samples, whole-route replacement (v1 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gpt-oss-20b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RQ1: Failure types of the raw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No case studies given.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RQ2: Two-step planning and the hint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Does two-step reason-then-formalise planning reduce first-pass failures, and how much of any gain depends on the rule-based hint?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Two-step, hint, few-shot: what the paired comparisons show, and whether the LLMs agree.</a:t>
            </a:r>
          </a:p>
          <a:p>
            <a:pPr lvl="0" indent="0" marL="0">
              <a:buNone/>
            </a:pPr>
            <a:r>
              <a:rPr/>
              <a:t>No paired comparison has data yet (a run of the pair is missing or unusable).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RQ3: Localized repair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Does localized minimal-edit repair preserve more of the LLM’s valid decisions than whole-route replacement, without loss of validity?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Repair against whole-route replacement: validity and how much of the LLM route survives.</a:t>
            </a:r>
          </a:p>
          <a:p>
            <a:pPr lvl="0" indent="0" marL="0">
              <a:buNone/>
            </a:pPr>
            <a:r>
              <a:rPr/>
              <a:t>No paired comparison has data yet (a run of the pair is missing or unusable).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RQ3: How much of the LLM route survives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/>
              <a:t>M5 (share of the LLM’s operations that survive the fix; higher = more minimal; – where nothing had to be fixed):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Qwen3.8-27B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gpt-oss-120b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gpt-oss-20b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A1: B0: five samples, whole-route replacement (v1 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A2: A1 + localized minimal-edit 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RQ4: Candidates and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multi-candidate generation and consistency-aware selection improve plan quality and stability, and at what cost in calls, tokens and latency?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Candidates and selection: quality, stability and what they cost.</a:t>
            </a:r>
          </a:p>
          <a:p>
            <a:pPr lvl="0" indent="0" marL="0">
              <a:buNone/>
            </a:pPr>
            <a:r>
              <a:rPr/>
              <a:t>No paired comparison has data yet (a run of the pair is missing or unusable).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RQ5: Repair or constrain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 it better to repair an LLM plan after generation, or to constrain generation step by step with the precedence graph? (stretch)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Repair after generation or constraint during generation; or say it was not run.</a:t>
            </a:r>
          </a:p>
          <a:p>
            <a:pPr lvl="0" indent="0" marL="0">
              <a:buNone/>
            </a:pPr>
            <a:r>
              <a:rPr/>
              <a:t>No paired comparison has data yet (a run of the pair is missing or unusable).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RQ6: Extraction and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per-feature evidence and agreement-based selective confirmation reduce the number of user corrections per drawing without lowering the accuracy of the confirmed feature list?</a:t>
            </a:r>
          </a:p>
          <a:p>
            <a:pPr lvl="0" indent="0" marL="0">
              <a:buNone/>
            </a:pPr>
            <a:r>
              <a:rPr i="1"/>
              <a:t>Development results (</a:t>
            </a:r>
            <a:r>
              <a:rPr i="1">
                <a:latin typeface="Courier"/>
              </a:rPr>
              <a:t>dev_v2</a:t>
            </a:r>
            <a:r>
              <a:rPr i="1"/>
              <a:t>), not paper results.</a:t>
            </a:r>
          </a:p>
          <a:p>
            <a:pPr lvl="0" indent="0" marL="0">
              <a:buNone/>
            </a:pPr>
            <a:r>
              <a:rPr i="1"/>
              <a:t>TO WRITE (15-70 words): Corrections per drawing; the oracle figure is an upper bound.</a:t>
            </a:r>
          </a:p>
          <a:p>
            <a:pPr lvl="0" indent="0" marL="0">
              <a:buNone/>
            </a:pPr>
            <a:r>
              <a:rPr i="1"/>
              <a:t>No extraction run given: M9 is not available.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No case studies given.</a:t>
            </a:r>
          </a:p>
          <a:p>
            <a:pPr lvl="0" indent="0" marL="0">
              <a:buNone/>
            </a:pPr>
            <a:r>
              <a:rPr i="1"/>
              <a:t>TO WRITE (15-70 words): One case that shows what the aggregate numbers do not.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grid is on the development set </a:t>
            </a:r>
            <a:r>
              <a:rPr>
                <a:latin typeface="Courier"/>
              </a:rPr>
              <a:t>dev_v2</a:t>
            </a:r>
            <a:r>
              <a:rPr/>
              <a:t> (synthetic parts): these are not test results.</a:t>
            </a:r>
          </a:p>
          <a:p>
            <a:pPr lvl="0"/>
            <a:r>
              <a:rPr/>
              <a:t>M4: no reference route available.</a:t>
            </a:r>
          </a:p>
          <a:p>
            <a:pPr lvl="0"/>
            <a:r>
              <a:rPr/>
              <a:t>Cells without a complete, checked run: A0/gpt120, A0/gpt20, A0/qwen, A1/gpt120, A1/gpt20, A1/qwen, A2/gpt120, A2/gpt20, A2/qwen, A3/gpt120, A3/gpt20,…</a:t>
            </a:r>
          </a:p>
          <a:p>
            <a:pPr lvl="0"/>
            <a:r>
              <a:rPr/>
              <a:t>Intervals and p-values are not corrected for the number of comparisons.</a:t>
            </a:r>
          </a:p>
          <a:p>
            <a:pPr lvl="0"/>
            <a:r>
              <a:rPr/>
              <a:t>The models are hosted and can be retired or change behaviour: the identifiers are pinned in </a:t>
            </a:r>
            <a:r>
              <a:rPr>
                <a:latin typeface="Courier"/>
              </a:rPr>
              <a:t>capp/config.py</a:t>
            </a:r>
            <a:r>
              <a:rPr/>
              <a:t> and every response is cached, but a re-r…</a:t>
            </a:r>
          </a:p>
          <a:p>
            <a:pPr lvl="0" indent="0" marL="0">
              <a:buNone/>
            </a:pPr>
            <a:r>
              <a:rPr i="1"/>
              <a:t>TO WRITE (15-70 words): The limits you want the audience to hear from you.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Freeze </a:t>
            </a:r>
            <a:r>
              <a:rPr>
                <a:latin typeface="Courier"/>
              </a:rPr>
              <a:t>2d59d8b0a213</a:t>
            </a:r>
            <a:r>
              <a:rPr/>
              <a:t> created 2026-10-27T22:46:22+00:00, commit </a:t>
            </a:r>
            <a:r>
              <a:rPr>
                <a:latin typeface="Courier"/>
              </a:rPr>
              <a:t>8b29b0076d</a:t>
            </a:r>
            <a:r>
              <a:rPr/>
              <a:t>; the working tree now: </a:t>
            </a:r>
            <a:r>
              <a:rPr b="1"/>
              <a:t>drift</a:t>
            </a:r>
            <a:r>
              <a:rPr/>
              <a:t>.</a:t>
            </a:r>
          </a:p>
          <a:p>
            <a:pPr lvl="0"/>
            <a:r>
              <a:rPr/>
              <a:t>Tests at freeze time: 1530 passed, 0 failed.</a:t>
            </a:r>
          </a:p>
          <a:p>
            <a:pPr lvl="0"/>
            <a:r>
              <a:rPr/>
              <a:t>Models: large </a:t>
            </a:r>
            <a:r>
              <a:rPr>
                <a:latin typeface="Courier"/>
              </a:rPr>
              <a:t>openai/gpt-oss-120b</a:t>
            </a:r>
            <a:r>
              <a:rPr/>
              <a:t>, primary </a:t>
            </a:r>
            <a:r>
              <a:rPr>
                <a:latin typeface="Courier"/>
              </a:rPr>
              <a:t>qwen/qwen3.8-27b</a:t>
            </a:r>
            <a:r>
              <a:rPr/>
              <a:t>, small </a:t>
            </a:r>
            <a:r>
              <a:rPr>
                <a:latin typeface="Courier"/>
              </a:rPr>
              <a:t>openai/gpt-oss-20b</a:t>
            </a:r>
            <a:r>
              <a:rPr/>
              <a:t>.</a:t>
            </a:r>
          </a:p>
          <a:p>
            <a:pPr lvl="0"/>
            <a:r>
              <a:rPr/>
              <a:t>Tables: </a:t>
            </a:r>
            <a:r>
              <a:rPr>
                <a:latin typeface="Courier"/>
              </a:rPr>
              <a:t>python scripts/make_tables.py build &lt;grid&gt;</a:t>
            </a:r>
            <a:r>
              <a:rPr/>
              <a:t>; draft: </a:t>
            </a:r>
            <a:r>
              <a:rPr>
                <a:latin typeface="Courier"/>
              </a:rPr>
              <a:t>python scripts/paper_draft.py &lt;grid&gt;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TO WRITE (15-70 words): The answers in a few lines, and the next steps.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WRITE: title</dc:title>
  <dc:creator>TO WRITE: authors and date</dc:creator>
  <cp:keywords/>
  <dcterms:created xsi:type="dcterms:W3CDTF">2026-10-28T01:41:02Z</dcterms:created>
  <dcterms:modified xsi:type="dcterms:W3CDTF">2026-10-28T01:41:02Z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DEVELOPMENT RESULTS, NOT PAPER RESULTS</vt:lpwstr>
  </property>
</Properties>
</file>